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1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26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A1C979-EB5B-4BDB-8BC2-9EDE04E0CEF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65C1842-36CD-4A0C-9892-C6C7BA7C7EB8}">
      <dgm:prSet custT="1"/>
      <dgm:spPr/>
      <dgm:t>
        <a:bodyPr/>
        <a:lstStyle/>
        <a:p>
          <a:r>
            <a:rPr lang="en-GB" sz="1400" dirty="0"/>
            <a:t>Real time location tracking of an engineer, direct to the customer once an engineer</a:t>
          </a:r>
          <a:br>
            <a:rPr lang="en-GB" sz="1400" dirty="0"/>
          </a:br>
          <a:r>
            <a:rPr lang="en-GB" sz="1400" dirty="0"/>
            <a:t>marks a job as enroute. This has proven during our own pilots to reduce number of no access issues as well</a:t>
          </a:r>
          <a:br>
            <a:rPr lang="en-GB" sz="1400" dirty="0"/>
          </a:br>
          <a:r>
            <a:rPr lang="en-GB" sz="1400" dirty="0"/>
            <a:t>as greatly improving the customer journey.</a:t>
          </a:r>
          <a:endParaRPr lang="en-US" sz="1400" dirty="0"/>
        </a:p>
      </dgm:t>
    </dgm:pt>
    <dgm:pt modelId="{75A694A5-1B63-47C1-91DD-0F485440B62F}" type="parTrans" cxnId="{2EE14424-76DF-48F9-BAC5-9E269D2A3FDE}">
      <dgm:prSet/>
      <dgm:spPr/>
      <dgm:t>
        <a:bodyPr/>
        <a:lstStyle/>
        <a:p>
          <a:endParaRPr lang="en-US"/>
        </a:p>
      </dgm:t>
    </dgm:pt>
    <dgm:pt modelId="{4AE107CC-BB5F-4148-BA38-E1C4EA47ACED}" type="sibTrans" cxnId="{2EE14424-76DF-48F9-BAC5-9E269D2A3FDE}">
      <dgm:prSet/>
      <dgm:spPr/>
      <dgm:t>
        <a:bodyPr/>
        <a:lstStyle/>
        <a:p>
          <a:endParaRPr lang="en-US"/>
        </a:p>
      </dgm:t>
    </dgm:pt>
    <dgm:pt modelId="{DC729EF8-CD0E-4553-A96D-6FC5312E11E8}">
      <dgm:prSet custT="1"/>
      <dgm:spPr/>
      <dgm:t>
        <a:bodyPr/>
        <a:lstStyle/>
        <a:p>
          <a:r>
            <a:rPr lang="en-GB" sz="1400" dirty="0"/>
            <a:t>Ability to remotely (and on site) check asset status to determine if an asset is not only commissioned</a:t>
          </a:r>
          <a:br>
            <a:rPr lang="en-GB" sz="1400" dirty="0"/>
          </a:br>
          <a:r>
            <a:rPr lang="en-GB" sz="1400" dirty="0"/>
            <a:t>but also, if it is communicating including last time reads were submitted (and the value). This saves considerable</a:t>
          </a:r>
          <a:br>
            <a:rPr lang="en-GB" sz="1400" dirty="0"/>
          </a:br>
          <a:r>
            <a:rPr lang="en-GB" sz="1400" dirty="0"/>
            <a:t>time waiting for feedback from sigma, as well as giving engineers the ability to self-check work especially S2S. </a:t>
          </a:r>
          <a:br>
            <a:rPr lang="en-GB" sz="1400" dirty="0"/>
          </a:br>
          <a:r>
            <a:rPr lang="en-GB" sz="1400" dirty="0"/>
            <a:t>(Note this does </a:t>
          </a:r>
          <a:r>
            <a:rPr lang="en-GB" sz="1400" b="1" u="sng" dirty="0"/>
            <a:t>not</a:t>
          </a:r>
          <a:r>
            <a:rPr lang="en-GB" sz="1400" dirty="0"/>
            <a:t> supersede current commissioning and install join leave policy)</a:t>
          </a:r>
          <a:br>
            <a:rPr lang="en-GB" sz="1400" dirty="0"/>
          </a:br>
          <a:br>
            <a:rPr lang="en-GB" sz="1400" dirty="0"/>
          </a:br>
          <a:r>
            <a:rPr lang="en-GB" sz="1400" dirty="0"/>
            <a:t>Soon:</a:t>
          </a:r>
          <a:br>
            <a:rPr lang="en-GB" sz="1400" dirty="0"/>
          </a:br>
          <a:br>
            <a:rPr lang="en-GB" sz="1400" dirty="0"/>
          </a:br>
          <a:r>
            <a:rPr lang="en-GB" sz="1400" dirty="0"/>
            <a:t>Ability to see previous visit(s), and the outcome of the visit I.E Complete/I&amp;L etc.</a:t>
          </a:r>
          <a:endParaRPr lang="en-US" sz="1400" dirty="0"/>
        </a:p>
      </dgm:t>
    </dgm:pt>
    <dgm:pt modelId="{5AEFDD59-A62C-4483-ADC7-8176D7B5F6EA}" type="parTrans" cxnId="{A080FB75-21EB-42CF-95FC-137371236AAA}">
      <dgm:prSet/>
      <dgm:spPr/>
      <dgm:t>
        <a:bodyPr/>
        <a:lstStyle/>
        <a:p>
          <a:endParaRPr lang="en-US"/>
        </a:p>
      </dgm:t>
    </dgm:pt>
    <dgm:pt modelId="{7C54C4CF-ED05-4B6C-A98E-FCB03B6B64D0}" type="sibTrans" cxnId="{A080FB75-21EB-42CF-95FC-137371236AAA}">
      <dgm:prSet/>
      <dgm:spPr/>
      <dgm:t>
        <a:bodyPr/>
        <a:lstStyle/>
        <a:p>
          <a:endParaRPr lang="en-US"/>
        </a:p>
      </dgm:t>
    </dgm:pt>
    <dgm:pt modelId="{0A594DA7-7496-4E61-AE01-121E13C826B1}">
      <dgm:prSet custT="1"/>
      <dgm:spPr/>
      <dgm:t>
        <a:bodyPr/>
        <a:lstStyle/>
        <a:p>
          <a:r>
            <a:rPr lang="en-GB" sz="1400" dirty="0"/>
            <a:t>2-way communication direct with the customer</a:t>
          </a:r>
          <a:br>
            <a:rPr lang="en-GB" sz="1400" dirty="0"/>
          </a:br>
          <a:br>
            <a:rPr lang="en-GB" sz="1400" dirty="0"/>
          </a:br>
          <a:r>
            <a:rPr lang="en-GB" sz="1400" dirty="0"/>
            <a:t>Many more features scheduled, with constant development and feedback being provided from SP</a:t>
          </a:r>
          <a:endParaRPr lang="en-US" sz="1400" dirty="0"/>
        </a:p>
      </dgm:t>
    </dgm:pt>
    <dgm:pt modelId="{89F35BD9-DAB7-494D-A189-35270E0F2A86}" type="parTrans" cxnId="{E16BDB0E-AE6C-477A-BF4B-67EECA776844}">
      <dgm:prSet/>
      <dgm:spPr/>
      <dgm:t>
        <a:bodyPr/>
        <a:lstStyle/>
        <a:p>
          <a:endParaRPr lang="en-US"/>
        </a:p>
      </dgm:t>
    </dgm:pt>
    <dgm:pt modelId="{FE5D7620-A154-48EF-B682-4A02A0A212E8}" type="sibTrans" cxnId="{E16BDB0E-AE6C-477A-BF4B-67EECA776844}">
      <dgm:prSet/>
      <dgm:spPr/>
      <dgm:t>
        <a:bodyPr/>
        <a:lstStyle/>
        <a:p>
          <a:endParaRPr lang="en-US"/>
        </a:p>
      </dgm:t>
    </dgm:pt>
    <dgm:pt modelId="{A5D60430-923C-45CF-80D4-234C1590F6EC}" type="pres">
      <dgm:prSet presAssocID="{77A1C979-EB5B-4BDB-8BC2-9EDE04E0CEF9}" presName="root" presStyleCnt="0">
        <dgm:presLayoutVars>
          <dgm:dir/>
          <dgm:resizeHandles val="exact"/>
        </dgm:presLayoutVars>
      </dgm:prSet>
      <dgm:spPr/>
    </dgm:pt>
    <dgm:pt modelId="{C32E4FEF-B5CC-4D57-B15D-2A7689249C64}" type="pres">
      <dgm:prSet presAssocID="{265C1842-36CD-4A0C-9892-C6C7BA7C7EB8}" presName="compNode" presStyleCnt="0"/>
      <dgm:spPr/>
    </dgm:pt>
    <dgm:pt modelId="{91671FFD-A6F1-4E47-B04C-D1DD1D10F6E2}" type="pres">
      <dgm:prSet presAssocID="{265C1842-36CD-4A0C-9892-C6C7BA7C7EB8}" presName="bgRect" presStyleLbl="bgShp" presStyleIdx="0" presStyleCnt="3"/>
      <dgm:spPr/>
    </dgm:pt>
    <dgm:pt modelId="{AD0BE8E0-4CA0-4FBC-98A5-341730FB1CD9}" type="pres">
      <dgm:prSet presAssocID="{265C1842-36CD-4A0C-9892-C6C7BA7C7EB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ading"/>
        </a:ext>
      </dgm:extLst>
    </dgm:pt>
    <dgm:pt modelId="{2A5CDF90-27DB-4FBD-B1F7-377BF5856C56}" type="pres">
      <dgm:prSet presAssocID="{265C1842-36CD-4A0C-9892-C6C7BA7C7EB8}" presName="spaceRect" presStyleCnt="0"/>
      <dgm:spPr/>
    </dgm:pt>
    <dgm:pt modelId="{552765C0-90EC-4BF1-8D2D-F5502D7F6F4D}" type="pres">
      <dgm:prSet presAssocID="{265C1842-36CD-4A0C-9892-C6C7BA7C7EB8}" presName="parTx" presStyleLbl="revTx" presStyleIdx="0" presStyleCnt="3">
        <dgm:presLayoutVars>
          <dgm:chMax val="0"/>
          <dgm:chPref val="0"/>
        </dgm:presLayoutVars>
      </dgm:prSet>
      <dgm:spPr/>
    </dgm:pt>
    <dgm:pt modelId="{99305323-FFA8-47E2-A868-632F9CE17694}" type="pres">
      <dgm:prSet presAssocID="{4AE107CC-BB5F-4148-BA38-E1C4EA47ACED}" presName="sibTrans" presStyleCnt="0"/>
      <dgm:spPr/>
    </dgm:pt>
    <dgm:pt modelId="{CD3C6A91-4054-4720-AC75-F84E4403B202}" type="pres">
      <dgm:prSet presAssocID="{DC729EF8-CD0E-4553-A96D-6FC5312E11E8}" presName="compNode" presStyleCnt="0"/>
      <dgm:spPr/>
    </dgm:pt>
    <dgm:pt modelId="{C4CCD811-1322-48AC-90B7-E160950F7C51}" type="pres">
      <dgm:prSet presAssocID="{DC729EF8-CD0E-4553-A96D-6FC5312E11E8}" presName="bgRect" presStyleLbl="bgShp" presStyleIdx="1" presStyleCnt="3"/>
      <dgm:spPr/>
    </dgm:pt>
    <dgm:pt modelId="{33F4F424-C99C-4B3D-AA36-E230B90F5D00}" type="pres">
      <dgm:prSet presAssocID="{DC729EF8-CD0E-4553-A96D-6FC5312E11E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34CDDFE-C144-4D5F-973E-EE371A7562E3}" type="pres">
      <dgm:prSet presAssocID="{DC729EF8-CD0E-4553-A96D-6FC5312E11E8}" presName="spaceRect" presStyleCnt="0"/>
      <dgm:spPr/>
    </dgm:pt>
    <dgm:pt modelId="{160DC967-2628-489C-9CB3-4E082067EB03}" type="pres">
      <dgm:prSet presAssocID="{DC729EF8-CD0E-4553-A96D-6FC5312E11E8}" presName="parTx" presStyleLbl="revTx" presStyleIdx="1" presStyleCnt="3">
        <dgm:presLayoutVars>
          <dgm:chMax val="0"/>
          <dgm:chPref val="0"/>
        </dgm:presLayoutVars>
      </dgm:prSet>
      <dgm:spPr/>
    </dgm:pt>
    <dgm:pt modelId="{1372A7F7-4777-40CA-84BD-36ACCBB2CD6E}" type="pres">
      <dgm:prSet presAssocID="{7C54C4CF-ED05-4B6C-A98E-FCB03B6B64D0}" presName="sibTrans" presStyleCnt="0"/>
      <dgm:spPr/>
    </dgm:pt>
    <dgm:pt modelId="{1C76ACB7-688E-4DA2-AC4C-F97E4E845AEF}" type="pres">
      <dgm:prSet presAssocID="{0A594DA7-7496-4E61-AE01-121E13C826B1}" presName="compNode" presStyleCnt="0"/>
      <dgm:spPr/>
    </dgm:pt>
    <dgm:pt modelId="{96F6283C-F9D5-4C79-8F42-86EFAB00CE80}" type="pres">
      <dgm:prSet presAssocID="{0A594DA7-7496-4E61-AE01-121E13C826B1}" presName="bgRect" presStyleLbl="bgShp" presStyleIdx="2" presStyleCnt="3"/>
      <dgm:spPr/>
    </dgm:pt>
    <dgm:pt modelId="{2BE5C649-7E6E-45E9-813A-3DC09F18BB93}" type="pres">
      <dgm:prSet presAssocID="{0A594DA7-7496-4E61-AE01-121E13C826B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ech"/>
        </a:ext>
      </dgm:extLst>
    </dgm:pt>
    <dgm:pt modelId="{B49F9F75-401F-4BE5-A2FE-084787092D95}" type="pres">
      <dgm:prSet presAssocID="{0A594DA7-7496-4E61-AE01-121E13C826B1}" presName="spaceRect" presStyleCnt="0"/>
      <dgm:spPr/>
    </dgm:pt>
    <dgm:pt modelId="{703756D6-3464-4CCB-A53E-DC1F10EA8FB0}" type="pres">
      <dgm:prSet presAssocID="{0A594DA7-7496-4E61-AE01-121E13C826B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16BDB0E-AE6C-477A-BF4B-67EECA776844}" srcId="{77A1C979-EB5B-4BDB-8BC2-9EDE04E0CEF9}" destId="{0A594DA7-7496-4E61-AE01-121E13C826B1}" srcOrd="2" destOrd="0" parTransId="{89F35BD9-DAB7-494D-A189-35270E0F2A86}" sibTransId="{FE5D7620-A154-48EF-B682-4A02A0A212E8}"/>
    <dgm:cxn modelId="{2EE14424-76DF-48F9-BAC5-9E269D2A3FDE}" srcId="{77A1C979-EB5B-4BDB-8BC2-9EDE04E0CEF9}" destId="{265C1842-36CD-4A0C-9892-C6C7BA7C7EB8}" srcOrd="0" destOrd="0" parTransId="{75A694A5-1B63-47C1-91DD-0F485440B62F}" sibTransId="{4AE107CC-BB5F-4148-BA38-E1C4EA47ACED}"/>
    <dgm:cxn modelId="{2EAA7031-D239-4D35-9A1D-E93B088B17DA}" type="presOf" srcId="{265C1842-36CD-4A0C-9892-C6C7BA7C7EB8}" destId="{552765C0-90EC-4BF1-8D2D-F5502D7F6F4D}" srcOrd="0" destOrd="0" presId="urn:microsoft.com/office/officeart/2018/2/layout/IconVerticalSolidList"/>
    <dgm:cxn modelId="{A080FB75-21EB-42CF-95FC-137371236AAA}" srcId="{77A1C979-EB5B-4BDB-8BC2-9EDE04E0CEF9}" destId="{DC729EF8-CD0E-4553-A96D-6FC5312E11E8}" srcOrd="1" destOrd="0" parTransId="{5AEFDD59-A62C-4483-ADC7-8176D7B5F6EA}" sibTransId="{7C54C4CF-ED05-4B6C-A98E-FCB03B6B64D0}"/>
    <dgm:cxn modelId="{3E1C087E-D605-4BCC-98CD-49667D788FB7}" type="presOf" srcId="{0A594DA7-7496-4E61-AE01-121E13C826B1}" destId="{703756D6-3464-4CCB-A53E-DC1F10EA8FB0}" srcOrd="0" destOrd="0" presId="urn:microsoft.com/office/officeart/2018/2/layout/IconVerticalSolidList"/>
    <dgm:cxn modelId="{95C0A281-56A1-41CA-B242-A752EBD4C43C}" type="presOf" srcId="{DC729EF8-CD0E-4553-A96D-6FC5312E11E8}" destId="{160DC967-2628-489C-9CB3-4E082067EB03}" srcOrd="0" destOrd="0" presId="urn:microsoft.com/office/officeart/2018/2/layout/IconVerticalSolidList"/>
    <dgm:cxn modelId="{7F554BF2-15BA-4ED0-A59A-3AD2FBC6CEDA}" type="presOf" srcId="{77A1C979-EB5B-4BDB-8BC2-9EDE04E0CEF9}" destId="{A5D60430-923C-45CF-80D4-234C1590F6EC}" srcOrd="0" destOrd="0" presId="urn:microsoft.com/office/officeart/2018/2/layout/IconVerticalSolidList"/>
    <dgm:cxn modelId="{AF308CAB-6CEA-4215-9231-D46399D8E0D9}" type="presParOf" srcId="{A5D60430-923C-45CF-80D4-234C1590F6EC}" destId="{C32E4FEF-B5CC-4D57-B15D-2A7689249C64}" srcOrd="0" destOrd="0" presId="urn:microsoft.com/office/officeart/2018/2/layout/IconVerticalSolidList"/>
    <dgm:cxn modelId="{2CD85971-7427-4CAC-8BFB-791DB8DADA1E}" type="presParOf" srcId="{C32E4FEF-B5CC-4D57-B15D-2A7689249C64}" destId="{91671FFD-A6F1-4E47-B04C-D1DD1D10F6E2}" srcOrd="0" destOrd="0" presId="urn:microsoft.com/office/officeart/2018/2/layout/IconVerticalSolidList"/>
    <dgm:cxn modelId="{3112A6E0-1B7A-453E-A1B7-0670CD293507}" type="presParOf" srcId="{C32E4FEF-B5CC-4D57-B15D-2A7689249C64}" destId="{AD0BE8E0-4CA0-4FBC-98A5-341730FB1CD9}" srcOrd="1" destOrd="0" presId="urn:microsoft.com/office/officeart/2018/2/layout/IconVerticalSolidList"/>
    <dgm:cxn modelId="{DEB425AE-D5DD-48BD-957F-CA099479945A}" type="presParOf" srcId="{C32E4FEF-B5CC-4D57-B15D-2A7689249C64}" destId="{2A5CDF90-27DB-4FBD-B1F7-377BF5856C56}" srcOrd="2" destOrd="0" presId="urn:microsoft.com/office/officeart/2018/2/layout/IconVerticalSolidList"/>
    <dgm:cxn modelId="{AB2F08C3-DFE5-464B-8BA4-535142FB1E9F}" type="presParOf" srcId="{C32E4FEF-B5CC-4D57-B15D-2A7689249C64}" destId="{552765C0-90EC-4BF1-8D2D-F5502D7F6F4D}" srcOrd="3" destOrd="0" presId="urn:microsoft.com/office/officeart/2018/2/layout/IconVerticalSolidList"/>
    <dgm:cxn modelId="{B19FA151-AE20-46E5-90A8-F24CC8C92D6E}" type="presParOf" srcId="{A5D60430-923C-45CF-80D4-234C1590F6EC}" destId="{99305323-FFA8-47E2-A868-632F9CE17694}" srcOrd="1" destOrd="0" presId="urn:microsoft.com/office/officeart/2018/2/layout/IconVerticalSolidList"/>
    <dgm:cxn modelId="{40BE061D-532C-4D3D-BD8B-5ADC8D3D5311}" type="presParOf" srcId="{A5D60430-923C-45CF-80D4-234C1590F6EC}" destId="{CD3C6A91-4054-4720-AC75-F84E4403B202}" srcOrd="2" destOrd="0" presId="urn:microsoft.com/office/officeart/2018/2/layout/IconVerticalSolidList"/>
    <dgm:cxn modelId="{375018FB-428C-4C8C-85FE-03FF425A1BA3}" type="presParOf" srcId="{CD3C6A91-4054-4720-AC75-F84E4403B202}" destId="{C4CCD811-1322-48AC-90B7-E160950F7C51}" srcOrd="0" destOrd="0" presId="urn:microsoft.com/office/officeart/2018/2/layout/IconVerticalSolidList"/>
    <dgm:cxn modelId="{809125E1-FBD0-4B5F-987D-CA600DAE45A2}" type="presParOf" srcId="{CD3C6A91-4054-4720-AC75-F84E4403B202}" destId="{33F4F424-C99C-4B3D-AA36-E230B90F5D00}" srcOrd="1" destOrd="0" presId="urn:microsoft.com/office/officeart/2018/2/layout/IconVerticalSolidList"/>
    <dgm:cxn modelId="{41F15254-C3A0-4E3B-B2B8-FB7D53BBB727}" type="presParOf" srcId="{CD3C6A91-4054-4720-AC75-F84E4403B202}" destId="{234CDDFE-C144-4D5F-973E-EE371A7562E3}" srcOrd="2" destOrd="0" presId="urn:microsoft.com/office/officeart/2018/2/layout/IconVerticalSolidList"/>
    <dgm:cxn modelId="{0FFAB5CC-0244-4122-8C03-79D7E9E7209A}" type="presParOf" srcId="{CD3C6A91-4054-4720-AC75-F84E4403B202}" destId="{160DC967-2628-489C-9CB3-4E082067EB03}" srcOrd="3" destOrd="0" presId="urn:microsoft.com/office/officeart/2018/2/layout/IconVerticalSolidList"/>
    <dgm:cxn modelId="{3AE39D6C-0968-4834-AF84-A9D55CD975E6}" type="presParOf" srcId="{A5D60430-923C-45CF-80D4-234C1590F6EC}" destId="{1372A7F7-4777-40CA-84BD-36ACCBB2CD6E}" srcOrd="3" destOrd="0" presId="urn:microsoft.com/office/officeart/2018/2/layout/IconVerticalSolidList"/>
    <dgm:cxn modelId="{3711EE46-8D15-4727-9B58-B4E0B9A0068A}" type="presParOf" srcId="{A5D60430-923C-45CF-80D4-234C1590F6EC}" destId="{1C76ACB7-688E-4DA2-AC4C-F97E4E845AEF}" srcOrd="4" destOrd="0" presId="urn:microsoft.com/office/officeart/2018/2/layout/IconVerticalSolidList"/>
    <dgm:cxn modelId="{CFA6957D-1FC4-4439-8DDF-53F959699E6E}" type="presParOf" srcId="{1C76ACB7-688E-4DA2-AC4C-F97E4E845AEF}" destId="{96F6283C-F9D5-4C79-8F42-86EFAB00CE80}" srcOrd="0" destOrd="0" presId="urn:microsoft.com/office/officeart/2018/2/layout/IconVerticalSolidList"/>
    <dgm:cxn modelId="{48413966-6FF6-4659-B8CF-0A2A3322131F}" type="presParOf" srcId="{1C76ACB7-688E-4DA2-AC4C-F97E4E845AEF}" destId="{2BE5C649-7E6E-45E9-813A-3DC09F18BB93}" srcOrd="1" destOrd="0" presId="urn:microsoft.com/office/officeart/2018/2/layout/IconVerticalSolidList"/>
    <dgm:cxn modelId="{3517E570-AC33-40AE-A91F-0F808D56753E}" type="presParOf" srcId="{1C76ACB7-688E-4DA2-AC4C-F97E4E845AEF}" destId="{B49F9F75-401F-4BE5-A2FE-084787092D95}" srcOrd="2" destOrd="0" presId="urn:microsoft.com/office/officeart/2018/2/layout/IconVerticalSolidList"/>
    <dgm:cxn modelId="{A69015C3-FCD2-4976-8A74-DADF896DF7EE}" type="presParOf" srcId="{1C76ACB7-688E-4DA2-AC4C-F97E4E845AEF}" destId="{703756D6-3464-4CCB-A53E-DC1F10EA8F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671FFD-A6F1-4E47-B04C-D1DD1D10F6E2}">
      <dsp:nvSpPr>
        <dsp:cNvPr id="0" name=""/>
        <dsp:cNvSpPr/>
      </dsp:nvSpPr>
      <dsp:spPr>
        <a:xfrm>
          <a:off x="0" y="1853"/>
          <a:ext cx="6571413" cy="623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BE8E0-4CA0-4FBC-98A5-341730FB1CD9}">
      <dsp:nvSpPr>
        <dsp:cNvPr id="0" name=""/>
        <dsp:cNvSpPr/>
      </dsp:nvSpPr>
      <dsp:spPr>
        <a:xfrm>
          <a:off x="18861" y="15882"/>
          <a:ext cx="34293" cy="3429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2765C0-90EC-4BF1-8D2D-F5502D7F6F4D}">
      <dsp:nvSpPr>
        <dsp:cNvPr id="0" name=""/>
        <dsp:cNvSpPr/>
      </dsp:nvSpPr>
      <dsp:spPr>
        <a:xfrm>
          <a:off x="72016" y="1853"/>
          <a:ext cx="6139602" cy="177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069" tIns="188069" rIns="188069" bIns="18806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Real time location tracking of an engineer, direct to the customer once an engineer</a:t>
          </a:r>
          <a:br>
            <a:rPr lang="en-GB" sz="1400" kern="1200" dirty="0"/>
          </a:br>
          <a:r>
            <a:rPr lang="en-GB" sz="1400" kern="1200" dirty="0"/>
            <a:t>marks a job as enroute. This has proven during our own pilots to reduce number of no access issues as well</a:t>
          </a:r>
          <a:br>
            <a:rPr lang="en-GB" sz="1400" kern="1200" dirty="0"/>
          </a:br>
          <a:r>
            <a:rPr lang="en-GB" sz="1400" kern="1200" dirty="0"/>
            <a:t>as greatly improving the customer journey.</a:t>
          </a:r>
          <a:endParaRPr lang="en-US" sz="1400" kern="1200" dirty="0"/>
        </a:p>
      </dsp:txBody>
      <dsp:txXfrm>
        <a:off x="72016" y="1853"/>
        <a:ext cx="6139602" cy="1777027"/>
      </dsp:txXfrm>
    </dsp:sp>
    <dsp:sp modelId="{C4CCD811-1322-48AC-90B7-E160950F7C51}">
      <dsp:nvSpPr>
        <dsp:cNvPr id="0" name=""/>
        <dsp:cNvSpPr/>
      </dsp:nvSpPr>
      <dsp:spPr>
        <a:xfrm>
          <a:off x="0" y="1976329"/>
          <a:ext cx="6571413" cy="623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3F4F424-C99C-4B3D-AA36-E230B90F5D00}">
      <dsp:nvSpPr>
        <dsp:cNvPr id="0" name=""/>
        <dsp:cNvSpPr/>
      </dsp:nvSpPr>
      <dsp:spPr>
        <a:xfrm>
          <a:off x="18861" y="1990358"/>
          <a:ext cx="34293" cy="3429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0DC967-2628-489C-9CB3-4E082067EB03}">
      <dsp:nvSpPr>
        <dsp:cNvPr id="0" name=""/>
        <dsp:cNvSpPr/>
      </dsp:nvSpPr>
      <dsp:spPr>
        <a:xfrm>
          <a:off x="72016" y="1976329"/>
          <a:ext cx="6139602" cy="177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069" tIns="188069" rIns="188069" bIns="18806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Ability to remotely (and on site) check asset status to determine if an asset is not only commissioned</a:t>
          </a:r>
          <a:br>
            <a:rPr lang="en-GB" sz="1400" kern="1200" dirty="0"/>
          </a:br>
          <a:r>
            <a:rPr lang="en-GB" sz="1400" kern="1200" dirty="0"/>
            <a:t>but also, if it is communicating including last time reads were submitted (and the value). This saves considerable</a:t>
          </a:r>
          <a:br>
            <a:rPr lang="en-GB" sz="1400" kern="1200" dirty="0"/>
          </a:br>
          <a:r>
            <a:rPr lang="en-GB" sz="1400" kern="1200" dirty="0"/>
            <a:t>time waiting for feedback from sigma, as well as giving engineers the ability to self-check work especially S2S. </a:t>
          </a:r>
          <a:br>
            <a:rPr lang="en-GB" sz="1400" kern="1200" dirty="0"/>
          </a:br>
          <a:r>
            <a:rPr lang="en-GB" sz="1400" kern="1200" dirty="0"/>
            <a:t>(Note this does </a:t>
          </a:r>
          <a:r>
            <a:rPr lang="en-GB" sz="1400" b="1" u="sng" kern="1200" dirty="0"/>
            <a:t>not</a:t>
          </a:r>
          <a:r>
            <a:rPr lang="en-GB" sz="1400" kern="1200" dirty="0"/>
            <a:t> supersede current commissioning and install join leave policy)</a:t>
          </a:r>
          <a:br>
            <a:rPr lang="en-GB" sz="1400" kern="1200" dirty="0"/>
          </a:br>
          <a:br>
            <a:rPr lang="en-GB" sz="1400" kern="1200" dirty="0"/>
          </a:br>
          <a:r>
            <a:rPr lang="en-GB" sz="1400" kern="1200" dirty="0"/>
            <a:t>Soon:</a:t>
          </a:r>
          <a:br>
            <a:rPr lang="en-GB" sz="1400" kern="1200" dirty="0"/>
          </a:br>
          <a:br>
            <a:rPr lang="en-GB" sz="1400" kern="1200" dirty="0"/>
          </a:br>
          <a:r>
            <a:rPr lang="en-GB" sz="1400" kern="1200" dirty="0"/>
            <a:t>Ability to see previous visit(s), and the outcome of the visit I.E Complete/I&amp;L etc.</a:t>
          </a:r>
          <a:endParaRPr lang="en-US" sz="1400" kern="1200" dirty="0"/>
        </a:p>
      </dsp:txBody>
      <dsp:txXfrm>
        <a:off x="72016" y="1976329"/>
        <a:ext cx="6139602" cy="1777027"/>
      </dsp:txXfrm>
    </dsp:sp>
    <dsp:sp modelId="{96F6283C-F9D5-4C79-8F42-86EFAB00CE80}">
      <dsp:nvSpPr>
        <dsp:cNvPr id="0" name=""/>
        <dsp:cNvSpPr/>
      </dsp:nvSpPr>
      <dsp:spPr>
        <a:xfrm>
          <a:off x="0" y="3950804"/>
          <a:ext cx="6571413" cy="6235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E5C649-7E6E-45E9-813A-3DC09F18BB93}">
      <dsp:nvSpPr>
        <dsp:cNvPr id="0" name=""/>
        <dsp:cNvSpPr/>
      </dsp:nvSpPr>
      <dsp:spPr>
        <a:xfrm>
          <a:off x="18861" y="3964833"/>
          <a:ext cx="34293" cy="3429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756D6-3464-4CCB-A53E-DC1F10EA8FB0}">
      <dsp:nvSpPr>
        <dsp:cNvPr id="0" name=""/>
        <dsp:cNvSpPr/>
      </dsp:nvSpPr>
      <dsp:spPr>
        <a:xfrm>
          <a:off x="72016" y="3950804"/>
          <a:ext cx="6139602" cy="17770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069" tIns="188069" rIns="188069" bIns="188069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2-way communication direct with the customer</a:t>
          </a:r>
          <a:br>
            <a:rPr lang="en-GB" sz="1400" kern="1200" dirty="0"/>
          </a:br>
          <a:br>
            <a:rPr lang="en-GB" sz="1400" kern="1200" dirty="0"/>
          </a:br>
          <a:r>
            <a:rPr lang="en-GB" sz="1400" kern="1200" dirty="0"/>
            <a:t>Many more features scheduled, with constant development and feedback being provided from SP</a:t>
          </a:r>
          <a:endParaRPr lang="en-US" sz="1400" kern="1200" dirty="0"/>
        </a:p>
      </dsp:txBody>
      <dsp:txXfrm>
        <a:off x="72016" y="3950804"/>
        <a:ext cx="6139602" cy="17770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6847D-1CF6-46BA-B46B-48BED0604A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 cap="all" spc="1500" baseline="0">
                <a:latin typeface="+mj-lt"/>
                <a:ea typeface="Source Sans Pro SemiBold" panose="020B0603030403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4F5A5-C931-4A4C-B6B1-EF4C95965B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cap="all" spc="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8A351602-3772-4279-B0D3-A523F6F6EAB3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5AAAA75-5FFB-4C07-AD4A-3146773E6CDD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1479895E-3847-44BB-8404-28F14219FB7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0E02F68-8149-4236-8D9F-6B550F78B93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56FCAAB-F073-4561-A484-42C7DD10DC26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CF8DB94-87A3-43E9-9BBB-301CFF0FB05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E4AEC-B6E4-439C-B716-EBE3D4D1D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FF81C-1FCB-4DBA-8044-F1A0FCFD45A6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8BC18-102E-45BF-8FEA-801E9C59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8BF5F-B1F8-461F-9B3D-7D50D0242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6BF779-0B8C-4CC2-9268-9506AD0C5331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34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88500-1605-41EA-A15F-9B79DF7E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14AC8-25A5-4D7F-BF23-CB20AA2EC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95D22-0146-4DE2-9E78-4C00333D4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7773D-8987-489A-A650-3D6F7D5C7C38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9717A-A1FE-485D-AFFF-2C7026C71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DB88B-64CF-4100-8F07-D191DD79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4332FF-8349-42A5-B5C8-5EE3825CE25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29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BFE6C-EBF1-47DE-8468-E7125172B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04992-D139-48DC-BCCE-D71EA23CA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A8C5E768-0E62-4DE7-A0AF-93121DA843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02845F-9E8A-41E1-B051-1AAA46C997A2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A45C410-5FD0-4339-A3BC-A865DE4190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7B0B703-8BA8-483C-A433-C44C809687DE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CCFA03D-B879-419B-88B9-F4F3645C8AF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6B0260A-6B2D-4F54-8614-60BC3103E166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AB8F6-0796-47E9-B1D4-760B7CCFC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150C1-1D78-4D80-810D-E9E86F6E88AB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6FC0-7327-44D9-B689-0AE73FD25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19D265-BFBA-4C93-9B1A-B9483AE6B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64F5FEB-DE92-47DA-8C46-DC088E8960A4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062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637BE-B22F-40EE-94F0-04549BC5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71582-4BAF-4211-AD4A-476ED6EB11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DCF6B-C800-4345-BAE9-EE9FA65903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E6190A1E-5381-43C4-B058-7758339984D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E35469-0BEA-4E5E-955F-1AA300A62DE5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8F650BE-565E-4A52-8143-7A87700FC5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86A3F89-AA2A-44E5-915E-C47A069EB68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C57F514-AB27-4489-8D3C-01DD1025DDAD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141169F-1C39-4D04-AF32-D0D14D004B05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87465-759F-4895-8FC6-DD464FB9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9CBD8-1588-4B6B-B74D-87480DDE94C0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F1AA18-D8A5-44D9-881C-522258ED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1BA574-A76A-4F4C-8CBD-768278B66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793E083-ADC4-4391-83DD-781529A6611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57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B666-D6BE-4FA8-9CF1-F15FD58B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CE4B4A-DE64-4563-83CD-C40B1D681D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DA0314-0202-4E6D-8352-C28376A9C0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56083-87B4-4603-B6FF-A9EB68E3E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3708CF-F028-4917-A9CB-59BF5248A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10" name="Graphic 185">
            <a:extLst>
              <a:ext uri="{FF2B5EF4-FFF2-40B4-BE49-F238E27FC236}">
                <a16:creationId xmlns:a16="http://schemas.microsoft.com/office/drawing/2014/main" id="{81B934BF-E239-47E1-93E9-EA3182162D21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3BBF177-5044-426A-93ED-64BDC84BF184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4270648-77F5-4D28-B691-DA57AA28FD73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086B770-2F70-4B7B-9525-286BBD63AD72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7DDC14D-7AE3-41CD-ADFC-A3601D4F9DF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2181834-8401-4B66-85EE-1CBF57807DAB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33C091-3B62-4087-9A97-63BBE28CF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94440-721C-4D75-BD4F-4CFB3D51CDCA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0710C3-2723-4847-BCAF-96D9FAE50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618B2C-95AC-4438-97FD-07ACF297B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B0F5A7-6E8A-4BCD-8F1F-233ECD21B262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67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9CF7F-748D-4598-983E-96A2BE269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aphic 185">
            <a:extLst>
              <a:ext uri="{FF2B5EF4-FFF2-40B4-BE49-F238E27FC236}">
                <a16:creationId xmlns:a16="http://schemas.microsoft.com/office/drawing/2014/main" id="{DFD4D3BE-80D4-4E69-9C76-F0D8517DF690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0B6E97F-00E1-4372-8978-8BCBDC9026E6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C7651B7-7A30-4AFA-A4D7-0B0C5D2DDAA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D2FC5CA-556B-4409-B084-34753A1F04E6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E63FB41-EE1F-4889-9096-3A38936330D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D19F3B-7B3E-4861-8FDA-D0116C96C16E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0A2C46-C908-4010-AAE2-9FA41B14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01A64-483B-4532-94FB-D8F90CB6DEE0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CF5279-7D37-4D98-9A70-987C84F62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96FAD0-59EF-49AA-BBC6-A0EC184DD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6EB399-18D2-46D5-8757-35FCFF8EA80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13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aphic 185">
            <a:extLst>
              <a:ext uri="{FF2B5EF4-FFF2-40B4-BE49-F238E27FC236}">
                <a16:creationId xmlns:a16="http://schemas.microsoft.com/office/drawing/2014/main" id="{773CCE17-EE0F-40E0-B7AE-CF7677B64709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0AC6C4E-6EA5-454A-AB84-8B94D8B585EC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4329338-925B-4677-BA6E-4357D37DB54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34C0A08-043F-4818-BA1D-BCC9F811A87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CB185DD-ED0D-4633-8098-95C4A6F177C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AD50526-B611-40B6-BB45-AE82F0EF5992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08C302-4224-4668-8CAC-3267172A0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8FB39-20FB-4E2E-B861-45B709B9C3C5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C8FC22-AEB6-4BAF-BF93-41A2C757C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88A-5462-4F17-AFA0-52721ADDB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CCC791-94D7-4BB8-9EDF-423CEA1F6215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792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6AC37-C5B5-462A-BE4A-E55CEBF2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4B007F-32A8-4688-BBEF-4FCB99DF5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2E2EB-BF8A-44A4-8AE0-BD6C31B1D9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FC9E188F-54C8-4547-9F8C-525712AD7DB6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99C4538-3939-47A9-A590-09FF21960653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541CA75-5D05-4996-A26D-CE0C909CD5F7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6305856-26BC-4BCC-BEF3-5E9CED94177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69651C-AC37-4CD2-8367-19297D7E2389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3E9031B-BA8D-4D9D-9BB3-A16F7A80F85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40A2-CF60-4C47-B955-E65BC45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48AC19-8BD6-476C-9770-8884373BCF00}" type="datetime1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9DC6E-CC55-47AB-A405-5FB7EE2D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5D5E7D-EBA7-4DB0-8C78-7EB8A85FA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5B051DE-636E-4B3C-9886-2055CE23E49A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56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1D355-3146-41D1-B7DC-20B8ACE39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D4AAFB-E8F8-4FD1-8C6A-ED2C3FAD50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1AF1-B16F-43B9-95CC-C17B570DE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8" name="Graphic 185">
            <a:extLst>
              <a:ext uri="{FF2B5EF4-FFF2-40B4-BE49-F238E27FC236}">
                <a16:creationId xmlns:a16="http://schemas.microsoft.com/office/drawing/2014/main" id="{C8B77273-9FF7-4B93-8385-AD09A5F86AE5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117A673-3729-4EAD-9E8C-52BEBF74B857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E8DB752-94CD-4A94-BDE3-DD285EB89F3F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2F8DDFC-E5CA-4F36-B2BE-BCE49D4F6C95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BB589AE-2F9C-4C83-8DC7-1205CB037525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AC9A2DE-3C9E-4CD0-8C7A-CC5F9F9942E4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8C8714-2467-4715-934E-6787C84F7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F68C53-8AD1-4F09-9486-FB3406B99CFA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6F13D6-03EC-4D31-8BB1-9FFDE363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65D4DD-A2A4-4DF6-9527-E5F12FEB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D202F3A-9FDE-4E11-B865-FBAEC415F880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21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3A871-D377-4EC0-9ACF-86842F01E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D53202-92A9-45A3-B812-777DB9578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7196FB0C-3A9D-4892-90C9-21F3459AAD9E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938C96-CF0F-4B69-A695-913F11BFC6F0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CA7E6BB-6B60-4BF5-9D3E-A3FE782EF5B0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693EDA-57B3-4AEB-863B-B198C2A5A8E3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3A04A96-045F-4B6E-AEEE-11A2FA01B4FC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B357DC-5AD3-44F4-879B-5AD6B18AC36F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2CA47F-83AD-4BE3-AC2F-6C17883F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092B3-2D87-4CDF-B84B-C46E5F5D31F7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18A72-3200-4597-A9C5-0D9ECFF3E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0055A-71D4-49B4-8A8F-19AFDB84E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B0E5D27-C447-432F-982D-B60FDD6F34AD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473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59DBB-9256-464D-8A6A-8BDA71541D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5E310-E6CB-4838-8E9B-B288DA552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7" name="Graphic 185">
            <a:extLst>
              <a:ext uri="{FF2B5EF4-FFF2-40B4-BE49-F238E27FC236}">
                <a16:creationId xmlns:a16="http://schemas.microsoft.com/office/drawing/2014/main" id="{BCF412A8-E798-47AD-ABD9-98D76A55D30B}"/>
              </a:ext>
            </a:extLst>
          </p:cNvPr>
          <p:cNvGrpSpPr/>
          <p:nvPr/>
        </p:nvGrpSpPr>
        <p:grpSpPr>
          <a:xfrm>
            <a:off x="10999563" y="5987064"/>
            <a:ext cx="1054467" cy="469689"/>
            <a:chOff x="9841624" y="4115729"/>
            <a:chExt cx="602170" cy="268223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70160C5-475D-401A-AEE2-2C04E99A1518}"/>
                </a:ext>
              </a:extLst>
            </p:cNvPr>
            <p:cNvSpPr/>
            <p:nvPr/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07CC7CE9-9C7F-49C2-8609-47BF523390F5}"/>
                </a:ext>
              </a:extLst>
            </p:cNvPr>
            <p:cNvSpPr/>
            <p:nvPr/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26FD5F1-978C-45AF-9086-D5DBE1F01681}"/>
                </a:ext>
              </a:extLst>
            </p:cNvPr>
            <p:cNvSpPr/>
            <p:nvPr/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873AB1C-723A-4FB4-9B23-65BAF5074833}"/>
                </a:ext>
              </a:extLst>
            </p:cNvPr>
            <p:cNvSpPr/>
            <p:nvPr/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1DE5510-5094-4FA4-96E5-AD4841D1C38A}"/>
                </a:ext>
              </a:extLst>
            </p:cNvPr>
            <p:cNvSpPr/>
            <p:nvPr/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CE2202-679F-48B0-B2DD-F6F547112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69E57-47B1-47B0-B526-3153E4B1E729}" type="datetime1">
              <a:rPr lang="en-US" smtClean="0"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BC83D-E4C0-49E1-ADA1-1AF403984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F211E-B2EA-4CDC-9E84-B68983949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450C42-9A0B-4425-92C2-70FCF7C457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FE2F5FD-5D31-4C1D-82F8-93624C7B0A3C}"/>
              </a:ext>
            </a:extLst>
          </p:cNvPr>
          <p:cNvSpPr/>
          <p:nvPr/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323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33F5C3-CD4B-4472-B59A-49D460CB1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2236B-AB2C-4D6F-AE15-700992DA9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F509-07BE-4446-8772-F44E09936B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BA543EDD-D0D2-447F-B24F-3717AF4B109D}" type="datetime1">
              <a:rPr lang="en-US" smtClean="0"/>
              <a:pPr/>
              <a:t>9/29/2023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B927E-3833-4F85-99B5-56B5F1E540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CB64-4E98-43DE-B543-7BE5B329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cap="all" spc="100" baseline="0">
                <a:solidFill>
                  <a:schemeClr val="tx1">
                    <a:tint val="75000"/>
                  </a:schemeClr>
                </a:solidFill>
                <a:latin typeface="+mn-lt"/>
                <a:ea typeface="Source Sans Pro SemiBold" panose="020B0603030403020204" pitchFamily="34" charset="0"/>
              </a:defRPr>
            </a:lvl1pPr>
          </a:lstStyle>
          <a:p>
            <a:fld id="{F3450C42-9A0B-4425-92C2-70FCF7C457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0722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5" r:id="rId9"/>
    <p:sldLayoutId id="2147483747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2" name="Graphic 185">
            <a:extLst>
              <a:ext uri="{FF2B5EF4-FFF2-40B4-BE49-F238E27FC236}">
                <a16:creationId xmlns:a16="http://schemas.microsoft.com/office/drawing/2014/main" id="{8997F1B7-1EE7-4EA5-A5A4-866F9A810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999576" y="5987064"/>
            <a:ext cx="1054466" cy="469689"/>
            <a:chOff x="9841624" y="4115729"/>
            <a:chExt cx="602169" cy="268223"/>
          </a:xfrm>
          <a:solidFill>
            <a:schemeClr val="tx1"/>
          </a:solidFill>
        </p:grpSpPr>
        <p:sp>
          <p:nvSpPr>
            <p:cNvPr id="1081" name="Freeform: Shape 1032">
              <a:extLst>
                <a:ext uri="{FF2B5EF4-FFF2-40B4-BE49-F238E27FC236}">
                  <a16:creationId xmlns:a16="http://schemas.microsoft.com/office/drawing/2014/main" id="{B5E13483-2FB6-4753-8402-06FDC3498E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: Shape 1033">
              <a:extLst>
                <a:ext uri="{FF2B5EF4-FFF2-40B4-BE49-F238E27FC236}">
                  <a16:creationId xmlns:a16="http://schemas.microsoft.com/office/drawing/2014/main" id="{88F0DF22-F640-4002-B783-DF1C6A9473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: Shape 1034">
              <a:extLst>
                <a:ext uri="{FF2B5EF4-FFF2-40B4-BE49-F238E27FC236}">
                  <a16:creationId xmlns:a16="http://schemas.microsoft.com/office/drawing/2014/main" id="{9C2787B8-7984-4332-B611-D3D3DE898F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AF3646C-B3D7-4F57-8FD2-CD93CEB392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65FA7DA-93A0-43A4-834C-0F1BB9806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39" name="Oval 1038">
            <a:extLst>
              <a:ext uri="{FF2B5EF4-FFF2-40B4-BE49-F238E27FC236}">
                <a16:creationId xmlns:a16="http://schemas.microsoft.com/office/drawing/2014/main" id="{104332FF-8349-42A5-B5C8-5EE3825CE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0736" y="652894"/>
            <a:ext cx="319941" cy="319941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1041" name="Rectangle 104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95697"/>
            <a:ext cx="3200400" cy="423811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400">
                <a:ea typeface="+mj-ea"/>
              </a:rPr>
              <a:t>HVA – Top level benefits</a:t>
            </a:r>
          </a:p>
        </p:txBody>
      </p:sp>
      <p:grpSp>
        <p:nvGrpSpPr>
          <p:cNvPr id="104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/>
          </a:solidFill>
        </p:grpSpPr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047" name="Graphic 38">
            <a:extLst>
              <a:ext uri="{FF2B5EF4-FFF2-40B4-BE49-F238E27FC236}">
                <a16:creationId xmlns:a16="http://schemas.microsoft.com/office/drawing/2014/main" id="{A8630B61-2CB6-4E0C-90A1-05A307F9C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910252" cy="709660"/>
            <a:chOff x="2267504" y="2540250"/>
            <a:chExt cx="1990951" cy="739640"/>
          </a:xfrm>
          <a:solidFill>
            <a:schemeClr val="tx1">
              <a:alpha val="60000"/>
            </a:schemeClr>
          </a:solidFill>
        </p:grpSpPr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EB5F489-45BA-4254-B501-559099D885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C8ECAADA-4087-4FFC-801E-BF007B413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51" name="Oval 1050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53" name="Oval 1052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1">
              <a:alpha val="2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055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tx1"/>
          </a:solidFill>
        </p:grpSpPr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6B243170-02F1-EEBC-47D9-997B20FA4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9904" y="6044857"/>
            <a:ext cx="1600200" cy="571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028" name="TextBox 3">
            <a:extLst>
              <a:ext uri="{FF2B5EF4-FFF2-40B4-BE49-F238E27FC236}">
                <a16:creationId xmlns:a16="http://schemas.microsoft.com/office/drawing/2014/main" id="{EA49DD0F-7CDB-E1C5-29F6-D0B93240C8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3131839"/>
              </p:ext>
            </p:extLst>
          </p:nvPr>
        </p:nvGraphicFramePr>
        <p:xfrm>
          <a:off x="4782386" y="447277"/>
          <a:ext cx="6571413" cy="57296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theme/theme1.xml><?xml version="1.0" encoding="utf-8"?>
<a:theme xmlns:a="http://schemas.openxmlformats.org/drawingml/2006/main" name="FunkyShapesVTI">
  <a:themeElements>
    <a:clrScheme name="Custom 15">
      <a:dk1>
        <a:sysClr val="windowText" lastClr="000000"/>
      </a:dk1>
      <a:lt1>
        <a:sysClr val="window" lastClr="FFFFFF"/>
      </a:lt1>
      <a:dk2>
        <a:srgbClr val="2D2D2D"/>
      </a:dk2>
      <a:lt2>
        <a:srgbClr val="F3FFF8"/>
      </a:lt2>
      <a:accent1>
        <a:srgbClr val="FF80BD"/>
      </a:accent1>
      <a:accent2>
        <a:srgbClr val="1EB9D3"/>
      </a:accent2>
      <a:accent3>
        <a:srgbClr val="21C46B"/>
      </a:accent3>
      <a:accent4>
        <a:srgbClr val="EA9600"/>
      </a:accent4>
      <a:accent5>
        <a:srgbClr val="F43B56"/>
      </a:accent5>
      <a:accent6>
        <a:srgbClr val="4B56E8"/>
      </a:accent6>
      <a:hlink>
        <a:srgbClr val="8F61FF"/>
      </a:hlink>
      <a:folHlink>
        <a:srgbClr val="F900A0"/>
      </a:folHlink>
    </a:clrScheme>
    <a:fontScheme name="Source Sans Pro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nkyShapesVTI" id="{A7F40C41-3FB2-45B0-B0D6-DFB7FDD9B7AD}" vid="{C49381A0-09CD-46EE-B141-E2CDD87ABFE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181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Source Sans Pro</vt:lpstr>
      <vt:lpstr>FunkyShapesVTI</vt:lpstr>
      <vt:lpstr>HVA – Top level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HVA – Top level benefits</dc:title>
  <dc:creator>Bryan Hardy</dc:creator>
  <cp:lastModifiedBy>Bryan Hardy</cp:lastModifiedBy>
  <cp:revision>1</cp:revision>
  <dcterms:created xsi:type="dcterms:W3CDTF">2023-09-29T08:01:43Z</dcterms:created>
  <dcterms:modified xsi:type="dcterms:W3CDTF">2023-09-29T08:10:36Z</dcterms:modified>
</cp:coreProperties>
</file>